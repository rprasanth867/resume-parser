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54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B509B6-B15A-4191-20C0-CB242BB852E6}" v="67" dt="2025-11-23T06:51:04.163"/>
    <p1510:client id="{5072A021-2868-875A-6A5C-41D7B0725C91}" v="388" dt="2025-11-23T06:17:28.326"/>
    <p1510:client id="{B10B1101-E88D-58DC-C755-09C04AC529BD}" v="31" dt="2025-11-23T06:48:54.905"/>
    <p1510:client id="{F9FE1F14-C4AE-9227-4928-9C7F40F4F986}" v="9" dt="2025-11-23T06:51:02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5A71C23D-0D46-DFA4-03AD-D27A31331713}"/>
              </a:ext>
            </a:extLst>
          </p:cNvPr>
          <p:cNvSpPr txBox="1">
            <a:spLocks/>
          </p:cNvSpPr>
          <p:nvPr/>
        </p:nvSpPr>
        <p:spPr>
          <a:xfrm>
            <a:off x="731520" y="1965960"/>
            <a:ext cx="10972800" cy="11430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867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5A2BF75-24AD-6A62-D98F-5EA7BB93FE83}"/>
              </a:ext>
            </a:extLst>
          </p:cNvPr>
          <p:cNvSpPr txBox="1">
            <a:spLocks/>
          </p:cNvSpPr>
          <p:nvPr/>
        </p:nvSpPr>
        <p:spPr>
          <a:xfrm>
            <a:off x="6933898" y="1144479"/>
            <a:ext cx="5389033" cy="58225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>
                <a:solidFill>
                  <a:srgbClr val="F58221"/>
                </a:solidFill>
              </a:rPr>
              <a:t>Business Use Case / Benefits</a:t>
            </a:r>
            <a:endParaRPr lang="en-US">
              <a:solidFill>
                <a:srgbClr val="F58221"/>
              </a:solidFill>
              <a:cs typeface="Calibri"/>
            </a:endParaRPr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C0B8532-4CE7-0705-E351-899424052B81}"/>
              </a:ext>
            </a:extLst>
          </p:cNvPr>
          <p:cNvSpPr txBox="1">
            <a:spLocks/>
          </p:cNvSpPr>
          <p:nvPr/>
        </p:nvSpPr>
        <p:spPr>
          <a:xfrm>
            <a:off x="6926272" y="1580700"/>
            <a:ext cx="5068014" cy="2273527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br>
              <a:rPr lang="en-US" sz="2100">
                <a:cs typeface="Calibri"/>
              </a:rPr>
            </a:br>
            <a:br>
              <a:rPr lang="en-US" sz="2100">
                <a:cs typeface="Calibri"/>
              </a:rPr>
            </a:br>
            <a:endParaRPr lang="en-US" sz="2100">
              <a:ea typeface="Calibri"/>
              <a:cs typeface="Calibri"/>
            </a:endParaRPr>
          </a:p>
          <a:p>
            <a:endParaRPr lang="en-US" sz="2133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39" name="Slide Number Placeholder 7">
            <a:extLst>
              <a:ext uri="{FF2B5EF4-FFF2-40B4-BE49-F238E27FC236}">
                <a16:creationId xmlns:a16="http://schemas.microsoft.com/office/drawing/2014/main" id="{30DACD1E-55AE-3519-CBC3-321FCE2999B6}"/>
              </a:ext>
            </a:extLst>
          </p:cNvPr>
          <p:cNvSpPr txBox="1">
            <a:spLocks/>
          </p:cNvSpPr>
          <p:nvPr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0B0811-8A86-4586-88AF-D9E8CAB6115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04A96EC4-7E77-FF02-6515-B57DA59AE8F6}"/>
              </a:ext>
            </a:extLst>
          </p:cNvPr>
          <p:cNvSpPr txBox="1">
            <a:spLocks/>
          </p:cNvSpPr>
          <p:nvPr/>
        </p:nvSpPr>
        <p:spPr>
          <a:xfrm>
            <a:off x="3783250" y="426689"/>
            <a:ext cx="4630057" cy="814267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00" b="1">
                <a:solidFill>
                  <a:srgbClr val="F58221"/>
                </a:solidFill>
                <a:latin typeface="Roboto Light"/>
                <a:ea typeface="Roboto Light"/>
              </a:rPr>
              <a:t>&lt;VIBE</a:t>
            </a:r>
            <a:r>
              <a:rPr lang="en-US" sz="3700">
                <a:solidFill>
                  <a:srgbClr val="F58221"/>
                </a:solidFill>
                <a:latin typeface="Roboto Light"/>
                <a:ea typeface="Roboto Light"/>
              </a:rPr>
              <a:t> </a:t>
            </a:r>
            <a:r>
              <a:rPr lang="en-US" sz="3700" b="1">
                <a:solidFill>
                  <a:srgbClr val="2CAAE2"/>
                </a:solidFill>
                <a:latin typeface="Roboto"/>
                <a:ea typeface="Roboto"/>
                <a:cs typeface="Roboto"/>
              </a:rPr>
              <a:t>Coding Idea&gt;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2014B2FA-AD6E-3A68-7483-22361E32B710}"/>
              </a:ext>
            </a:extLst>
          </p:cNvPr>
          <p:cNvSpPr txBox="1">
            <a:spLocks/>
          </p:cNvSpPr>
          <p:nvPr/>
        </p:nvSpPr>
        <p:spPr>
          <a:xfrm>
            <a:off x="6940800" y="3304096"/>
            <a:ext cx="5389033" cy="639763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rgbClr val="F58221"/>
                </a:solidFill>
              </a:rPr>
              <a:t>Technologies </a:t>
            </a:r>
            <a:r>
              <a:rPr lang="en-US">
                <a:solidFill>
                  <a:srgbClr val="F58221"/>
                </a:solidFill>
              </a:rPr>
              <a:t>Used -</a:t>
            </a:r>
            <a:endParaRPr lang="en-US" sz="2400">
              <a:solidFill>
                <a:srgbClr val="F58221"/>
              </a:solidFill>
              <a:cs typeface="Calibri"/>
            </a:endParaRPr>
          </a:p>
        </p:txBody>
      </p:sp>
      <p:sp>
        <p:nvSpPr>
          <p:cNvPr id="49" name="Footer Placeholder 1">
            <a:extLst>
              <a:ext uri="{FF2B5EF4-FFF2-40B4-BE49-F238E27FC236}">
                <a16:creationId xmlns:a16="http://schemas.microsoft.com/office/drawing/2014/main" id="{98DBB9FE-7A4C-43BE-8E73-F5DEBB937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91779" y="6353712"/>
            <a:ext cx="3860800" cy="365125"/>
          </a:xfrm>
        </p:spPr>
        <p:txBody>
          <a:bodyPr/>
          <a:lstStyle>
            <a:defPPr>
              <a:defRPr lang="en-US"/>
            </a:defPPr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Nouveau Labs Vibe Coding 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D72548C-C81B-B8BD-1C2C-CE1FE11E8282}"/>
              </a:ext>
            </a:extLst>
          </p:cNvPr>
          <p:cNvGrpSpPr/>
          <p:nvPr/>
        </p:nvGrpSpPr>
        <p:grpSpPr>
          <a:xfrm>
            <a:off x="0" y="-85842"/>
            <a:ext cx="12172949" cy="632652"/>
            <a:chOff x="0" y="111319"/>
            <a:chExt cx="9129712" cy="474489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931BB42C-0E17-4DAE-1FAD-E3963BE96595}"/>
                </a:ext>
              </a:extLst>
            </p:cNvPr>
            <p:cNvSpPr/>
            <p:nvPr/>
          </p:nvSpPr>
          <p:spPr>
            <a:xfrm>
              <a:off x="0" y="361250"/>
              <a:ext cx="7070935" cy="24105"/>
            </a:xfrm>
            <a:custGeom>
              <a:avLst/>
              <a:gdLst/>
              <a:ahLst/>
              <a:cxnLst/>
              <a:rect l="l" t="t" r="r" b="b"/>
              <a:pathLst>
                <a:path w="17141660" h="64281">
                  <a:moveTo>
                    <a:pt x="0" y="0"/>
                  </a:moveTo>
                  <a:lnTo>
                    <a:pt x="17141660" y="0"/>
                  </a:lnTo>
                  <a:lnTo>
                    <a:pt x="17141660" y="64281"/>
                  </a:lnTo>
                  <a:lnTo>
                    <a:pt x="0" y="64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3911D8C8-A840-5076-43C8-3B920544085C}"/>
                </a:ext>
              </a:extLst>
            </p:cNvPr>
            <p:cNvSpPr/>
            <p:nvPr/>
          </p:nvSpPr>
          <p:spPr>
            <a:xfrm>
              <a:off x="7129082" y="111319"/>
              <a:ext cx="2000630" cy="474489"/>
            </a:xfrm>
            <a:custGeom>
              <a:avLst/>
              <a:gdLst/>
              <a:ahLst/>
              <a:cxnLst/>
              <a:rect l="l" t="t" r="r" b="b"/>
              <a:pathLst>
                <a:path w="8988654" h="2189544">
                  <a:moveTo>
                    <a:pt x="0" y="0"/>
                  </a:moveTo>
                  <a:lnTo>
                    <a:pt x="8988654" y="0"/>
                  </a:lnTo>
                  <a:lnTo>
                    <a:pt x="8988654" y="2189544"/>
                  </a:lnTo>
                  <a:lnTo>
                    <a:pt x="0" y="2189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37AC45F1-307E-7CD9-7217-0FE44179DA95}"/>
              </a:ext>
            </a:extLst>
          </p:cNvPr>
          <p:cNvSpPr txBox="1">
            <a:spLocks/>
          </p:cNvSpPr>
          <p:nvPr/>
        </p:nvSpPr>
        <p:spPr>
          <a:xfrm>
            <a:off x="2796552" y="1159735"/>
            <a:ext cx="5068014" cy="2273527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endParaRPr lang="en-US" sz="1850" b="1">
              <a:ea typeface="+mn-lt"/>
              <a:cs typeface="+mn-lt"/>
            </a:endParaRPr>
          </a:p>
          <a:p>
            <a:pPr indent="0">
              <a:buNone/>
            </a:pPr>
            <a:endParaRPr lang="en-US" sz="1850">
              <a:cs typeface="Calibri"/>
            </a:endParaRPr>
          </a:p>
          <a:p>
            <a:pPr indent="0">
              <a:buFont typeface="Arial" panose="020B0604020202020204" pitchFamily="34" charset="0"/>
              <a:buNone/>
            </a:pPr>
            <a:br>
              <a:rPr lang="en-US" sz="2100">
                <a:cs typeface="Calibri"/>
              </a:rPr>
            </a:br>
            <a:br>
              <a:rPr lang="en-US" sz="2100">
                <a:cs typeface="Calibri"/>
              </a:rPr>
            </a:br>
            <a:endParaRPr lang="en-US" sz="2133">
              <a:ea typeface="Calibri"/>
              <a:cs typeface="Calibri"/>
            </a:endParaRPr>
          </a:p>
          <a:p>
            <a:endParaRPr lang="en-US" sz="2133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C088BC4-46CD-4C68-4262-CA588FCA1751}"/>
              </a:ext>
            </a:extLst>
          </p:cNvPr>
          <p:cNvSpPr txBox="1">
            <a:spLocks/>
          </p:cNvSpPr>
          <p:nvPr/>
        </p:nvSpPr>
        <p:spPr>
          <a:xfrm>
            <a:off x="169517" y="1154407"/>
            <a:ext cx="5068014" cy="536380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b="1">
                <a:solidFill>
                  <a:srgbClr val="00B0F0"/>
                </a:solidFill>
                <a:ea typeface="+mn-lt"/>
                <a:cs typeface="+mn-lt"/>
              </a:rPr>
              <a:t>IDEA Description -</a:t>
            </a:r>
          </a:p>
          <a:p>
            <a:pPr indent="0">
              <a:buNone/>
            </a:pPr>
            <a:endParaRPr lang="en-US" sz="1850">
              <a:cs typeface="Calibri"/>
            </a:endParaRPr>
          </a:p>
          <a:p>
            <a:pPr indent="0">
              <a:buFont typeface="Arial" panose="020B0604020202020204" pitchFamily="34" charset="0"/>
              <a:buNone/>
            </a:pPr>
            <a:br>
              <a:rPr lang="en-US" sz="2100">
                <a:cs typeface="Calibri"/>
              </a:rPr>
            </a:br>
            <a:br>
              <a:rPr lang="en-US" sz="2100">
                <a:cs typeface="Calibri"/>
              </a:rPr>
            </a:br>
            <a:endParaRPr lang="en-US" sz="2133">
              <a:ea typeface="Calibri"/>
              <a:cs typeface="Calibri"/>
            </a:endParaRPr>
          </a:p>
          <a:p>
            <a:endParaRPr lang="en-US" sz="2133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D7648A9-7DD4-FD76-8536-81771E77D91E}"/>
              </a:ext>
            </a:extLst>
          </p:cNvPr>
          <p:cNvSpPr txBox="1">
            <a:spLocks/>
          </p:cNvSpPr>
          <p:nvPr/>
        </p:nvSpPr>
        <p:spPr>
          <a:xfrm>
            <a:off x="6942257" y="4010574"/>
            <a:ext cx="5068014" cy="2273527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2100">
                <a:cs typeface="Calibri"/>
              </a:rPr>
              <a:t>&lt;Tech 1&gt;</a:t>
            </a:r>
            <a:endParaRPr lang="en-US" sz="21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100">
                <a:cs typeface="Calibri"/>
              </a:rPr>
              <a:t>&lt;Tech 2&gt;</a:t>
            </a:r>
            <a:br>
              <a:rPr lang="en-US" sz="2100">
                <a:cs typeface="Calibri"/>
              </a:rPr>
            </a:br>
            <a:br>
              <a:rPr lang="en-US" sz="2100">
                <a:cs typeface="Calibri"/>
              </a:rPr>
            </a:br>
            <a:endParaRPr lang="en-US" sz="2100">
              <a:ea typeface="Calibri"/>
              <a:cs typeface="Calibri"/>
            </a:endParaRPr>
          </a:p>
          <a:p>
            <a:endParaRPr lang="en-US" sz="2133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7976A68-FB1B-CFB0-279B-979A36CFE9E5}"/>
              </a:ext>
            </a:extLst>
          </p:cNvPr>
          <p:cNvSpPr txBox="1">
            <a:spLocks/>
          </p:cNvSpPr>
          <p:nvPr/>
        </p:nvSpPr>
        <p:spPr>
          <a:xfrm>
            <a:off x="265433" y="1580700"/>
            <a:ext cx="5068014" cy="1490213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br>
              <a:rPr lang="en-US" sz="2100">
                <a:cs typeface="Calibri"/>
              </a:rPr>
            </a:br>
            <a:br>
              <a:rPr lang="en-US" sz="2100">
                <a:cs typeface="Calibri"/>
              </a:rPr>
            </a:br>
            <a:endParaRPr lang="en-US" sz="2100">
              <a:ea typeface="Calibri"/>
              <a:cs typeface="Calibri"/>
            </a:endParaRPr>
          </a:p>
          <a:p>
            <a:endParaRPr lang="en-US" sz="2133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320808E-0A54-FB2A-86D3-BC05077EF41B}"/>
              </a:ext>
            </a:extLst>
          </p:cNvPr>
          <p:cNvSpPr txBox="1">
            <a:spLocks/>
          </p:cNvSpPr>
          <p:nvPr/>
        </p:nvSpPr>
        <p:spPr>
          <a:xfrm>
            <a:off x="267730" y="3430479"/>
            <a:ext cx="5389033" cy="58225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>
                <a:solidFill>
                  <a:srgbClr val="00B0F0"/>
                </a:solidFill>
              </a:rPr>
              <a:t>Team -</a:t>
            </a:r>
            <a:endParaRPr lang="en-US">
              <a:solidFill>
                <a:srgbClr val="F58221"/>
              </a:solidFill>
              <a:cs typeface="Calibri"/>
            </a:endParaRP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6D454DA-EC08-F8F4-9497-1418941B36A1}"/>
              </a:ext>
            </a:extLst>
          </p:cNvPr>
          <p:cNvSpPr txBox="1">
            <a:spLocks/>
          </p:cNvSpPr>
          <p:nvPr/>
        </p:nvSpPr>
        <p:spPr>
          <a:xfrm>
            <a:off x="265433" y="4090504"/>
            <a:ext cx="5068014" cy="1490213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2100">
                <a:ea typeface="Calibri"/>
                <a:cs typeface="Calibri"/>
              </a:rPr>
              <a:t>Barkat Shaik  (lead)</a:t>
            </a:r>
          </a:p>
          <a:p>
            <a:pPr marL="285750" indent="-285750">
              <a:buFont typeface="Arial"/>
              <a:buChar char="•"/>
            </a:pPr>
            <a:r>
              <a:rPr lang="en-US" sz="2100">
                <a:ea typeface="Calibri"/>
                <a:cs typeface="Calibri"/>
              </a:rPr>
              <a:t>Nithin Reddy </a:t>
            </a:r>
            <a:r>
              <a:rPr lang="en-US" sz="2100" err="1">
                <a:ea typeface="Calibri"/>
                <a:cs typeface="Calibri"/>
              </a:rPr>
              <a:t>Lekkala</a:t>
            </a:r>
            <a:br>
              <a:rPr lang="en-US" sz="2100">
                <a:cs typeface="Calibri"/>
              </a:rPr>
            </a:br>
            <a:br>
              <a:rPr lang="en-US" sz="2100">
                <a:cs typeface="Calibri"/>
              </a:rPr>
            </a:br>
            <a:endParaRPr lang="en-US" sz="2100">
              <a:ea typeface="Calibri"/>
              <a:cs typeface="Calibri"/>
            </a:endParaRPr>
          </a:p>
          <a:p>
            <a:endParaRPr lang="en-US" sz="2133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12DCD-F6BE-AE30-9D69-293DE65CA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7">
            <a:extLst>
              <a:ext uri="{FF2B5EF4-FFF2-40B4-BE49-F238E27FC236}">
                <a16:creationId xmlns:a16="http://schemas.microsoft.com/office/drawing/2014/main" id="{1095EB25-5643-6B19-E805-7AB8D092FEB8}"/>
              </a:ext>
            </a:extLst>
          </p:cNvPr>
          <p:cNvSpPr txBox="1">
            <a:spLocks/>
          </p:cNvSpPr>
          <p:nvPr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0B0811-8A86-4586-88AF-D9E8CAB6115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B8BDE9AD-4B45-4E37-DDDC-629DB04B2F81}"/>
              </a:ext>
            </a:extLst>
          </p:cNvPr>
          <p:cNvSpPr txBox="1">
            <a:spLocks/>
          </p:cNvSpPr>
          <p:nvPr/>
        </p:nvSpPr>
        <p:spPr>
          <a:xfrm>
            <a:off x="3783250" y="426689"/>
            <a:ext cx="4630057" cy="814267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00" b="1">
                <a:solidFill>
                  <a:srgbClr val="F58221"/>
                </a:solidFill>
                <a:latin typeface="Roboto Light"/>
                <a:ea typeface="Roboto Light"/>
              </a:rPr>
              <a:t>&lt;VIBE</a:t>
            </a:r>
            <a:r>
              <a:rPr lang="en-US" sz="3700">
                <a:solidFill>
                  <a:srgbClr val="F58221"/>
                </a:solidFill>
                <a:latin typeface="Roboto Light"/>
                <a:ea typeface="Roboto Light"/>
              </a:rPr>
              <a:t> </a:t>
            </a:r>
            <a:r>
              <a:rPr lang="en-US" sz="3700" b="1">
                <a:solidFill>
                  <a:srgbClr val="2CAAE2"/>
                </a:solidFill>
                <a:latin typeface="Roboto"/>
                <a:ea typeface="Roboto"/>
                <a:cs typeface="Roboto"/>
              </a:rPr>
              <a:t>Coding Idea&gt;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E38E62D0-F582-D608-C915-CB735D0C7742}"/>
              </a:ext>
            </a:extLst>
          </p:cNvPr>
          <p:cNvSpPr txBox="1">
            <a:spLocks/>
          </p:cNvSpPr>
          <p:nvPr/>
        </p:nvSpPr>
        <p:spPr>
          <a:xfrm>
            <a:off x="6962115" y="3975509"/>
            <a:ext cx="5389033" cy="639763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F58221"/>
                </a:solidFill>
              </a:rPr>
              <a:t>WAG(Rough) Estimation -</a:t>
            </a:r>
            <a:endParaRPr lang="en-US" sz="2400">
              <a:solidFill>
                <a:srgbClr val="F58221"/>
              </a:solidFill>
              <a:cs typeface="Calibri"/>
            </a:endParaRPr>
          </a:p>
        </p:txBody>
      </p:sp>
      <p:sp>
        <p:nvSpPr>
          <p:cNvPr id="49" name="Footer Placeholder 1">
            <a:extLst>
              <a:ext uri="{FF2B5EF4-FFF2-40B4-BE49-F238E27FC236}">
                <a16:creationId xmlns:a16="http://schemas.microsoft.com/office/drawing/2014/main" id="{964833D2-252C-7621-95E3-AA9C4038E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91779" y="6353712"/>
            <a:ext cx="3860800" cy="365125"/>
          </a:xfrm>
        </p:spPr>
        <p:txBody>
          <a:bodyPr/>
          <a:lstStyle>
            <a:defPPr>
              <a:defRPr lang="en-US"/>
            </a:defPPr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Nouveau Labs Vibe Coding 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9C64690-242F-A28E-0CA4-62A4BA01D0C9}"/>
              </a:ext>
            </a:extLst>
          </p:cNvPr>
          <p:cNvGrpSpPr/>
          <p:nvPr/>
        </p:nvGrpSpPr>
        <p:grpSpPr>
          <a:xfrm>
            <a:off x="0" y="-85842"/>
            <a:ext cx="12172949" cy="632652"/>
            <a:chOff x="0" y="111319"/>
            <a:chExt cx="9129712" cy="474489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A08D8385-C196-E3B0-B0FF-DB2B144D9481}"/>
                </a:ext>
              </a:extLst>
            </p:cNvPr>
            <p:cNvSpPr/>
            <p:nvPr/>
          </p:nvSpPr>
          <p:spPr>
            <a:xfrm>
              <a:off x="0" y="361250"/>
              <a:ext cx="7070935" cy="24105"/>
            </a:xfrm>
            <a:custGeom>
              <a:avLst/>
              <a:gdLst/>
              <a:ahLst/>
              <a:cxnLst/>
              <a:rect l="l" t="t" r="r" b="b"/>
              <a:pathLst>
                <a:path w="17141660" h="64281">
                  <a:moveTo>
                    <a:pt x="0" y="0"/>
                  </a:moveTo>
                  <a:lnTo>
                    <a:pt x="17141660" y="0"/>
                  </a:lnTo>
                  <a:lnTo>
                    <a:pt x="17141660" y="64281"/>
                  </a:lnTo>
                  <a:lnTo>
                    <a:pt x="0" y="64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5558EE0F-7879-6D91-06AB-D371EE33DFD5}"/>
                </a:ext>
              </a:extLst>
            </p:cNvPr>
            <p:cNvSpPr/>
            <p:nvPr/>
          </p:nvSpPr>
          <p:spPr>
            <a:xfrm>
              <a:off x="7129082" y="111319"/>
              <a:ext cx="2000630" cy="474489"/>
            </a:xfrm>
            <a:custGeom>
              <a:avLst/>
              <a:gdLst/>
              <a:ahLst/>
              <a:cxnLst/>
              <a:rect l="l" t="t" r="r" b="b"/>
              <a:pathLst>
                <a:path w="8988654" h="2189544">
                  <a:moveTo>
                    <a:pt x="0" y="0"/>
                  </a:moveTo>
                  <a:lnTo>
                    <a:pt x="8988654" y="0"/>
                  </a:lnTo>
                  <a:lnTo>
                    <a:pt x="8988654" y="2189544"/>
                  </a:lnTo>
                  <a:lnTo>
                    <a:pt x="0" y="2189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94E94D0A-C144-A93C-FF17-A53CC0CE8A45}"/>
              </a:ext>
            </a:extLst>
          </p:cNvPr>
          <p:cNvSpPr txBox="1">
            <a:spLocks/>
          </p:cNvSpPr>
          <p:nvPr/>
        </p:nvSpPr>
        <p:spPr>
          <a:xfrm>
            <a:off x="2796552" y="1159735"/>
            <a:ext cx="5068014" cy="2273527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endParaRPr lang="en-US" sz="1850" b="1">
              <a:ea typeface="+mn-lt"/>
              <a:cs typeface="+mn-lt"/>
            </a:endParaRPr>
          </a:p>
          <a:p>
            <a:pPr indent="0">
              <a:buNone/>
            </a:pPr>
            <a:endParaRPr lang="en-US" sz="1850">
              <a:cs typeface="Calibri"/>
            </a:endParaRPr>
          </a:p>
          <a:p>
            <a:pPr indent="0">
              <a:buFont typeface="Arial" panose="020B0604020202020204" pitchFamily="34" charset="0"/>
              <a:buNone/>
            </a:pPr>
            <a:br>
              <a:rPr lang="en-US" sz="2100">
                <a:cs typeface="Calibri"/>
              </a:rPr>
            </a:br>
            <a:br>
              <a:rPr lang="en-US" sz="2100">
                <a:cs typeface="Calibri"/>
              </a:rPr>
            </a:br>
            <a:endParaRPr lang="en-US" sz="2133">
              <a:ea typeface="Calibri"/>
              <a:cs typeface="Calibri"/>
            </a:endParaRPr>
          </a:p>
          <a:p>
            <a:endParaRPr lang="en-US" sz="2133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2BA41EC8-1B95-31CD-7DC3-99EE30BACC71}"/>
              </a:ext>
            </a:extLst>
          </p:cNvPr>
          <p:cNvSpPr txBox="1">
            <a:spLocks/>
          </p:cNvSpPr>
          <p:nvPr/>
        </p:nvSpPr>
        <p:spPr>
          <a:xfrm>
            <a:off x="265433" y="2022980"/>
            <a:ext cx="5068014" cy="2273527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1850" b="1">
                <a:ea typeface="+mn-lt"/>
                <a:cs typeface="+mn-lt"/>
              </a:rPr>
              <a:t>List 1</a:t>
            </a:r>
          </a:p>
          <a:p>
            <a:pPr marL="285750" indent="-285750"/>
            <a:r>
              <a:rPr lang="en-US" sz="1850" b="1">
                <a:cs typeface="Calibri"/>
              </a:rPr>
              <a:t>List 2</a:t>
            </a:r>
          </a:p>
          <a:p>
            <a:pPr indent="0">
              <a:buNone/>
            </a:pPr>
            <a:endParaRPr lang="en-US" sz="1850">
              <a:cs typeface="Calibri"/>
            </a:endParaRPr>
          </a:p>
          <a:p>
            <a:pPr indent="0">
              <a:buFont typeface="Arial" panose="020B0604020202020204" pitchFamily="34" charset="0"/>
              <a:buNone/>
            </a:pPr>
            <a:br>
              <a:rPr lang="en-US" sz="2100">
                <a:cs typeface="Calibri"/>
              </a:rPr>
            </a:br>
            <a:br>
              <a:rPr lang="en-US" sz="2100">
                <a:cs typeface="Calibri"/>
              </a:rPr>
            </a:br>
            <a:endParaRPr lang="en-US" sz="2133">
              <a:ea typeface="Calibri"/>
              <a:cs typeface="Calibri"/>
            </a:endParaRPr>
          </a:p>
          <a:p>
            <a:endParaRPr lang="en-US" sz="2133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085F1C-BE9C-E273-63FB-6C5259B2C7C2}"/>
              </a:ext>
            </a:extLst>
          </p:cNvPr>
          <p:cNvSpPr txBox="1">
            <a:spLocks/>
          </p:cNvSpPr>
          <p:nvPr/>
        </p:nvSpPr>
        <p:spPr>
          <a:xfrm>
            <a:off x="7123432" y="1964363"/>
            <a:ext cx="5068014" cy="1447584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1850" b="1">
                <a:ea typeface="+mn-lt"/>
                <a:cs typeface="+mn-lt"/>
              </a:rPr>
              <a:t>List 1</a:t>
            </a:r>
          </a:p>
          <a:p>
            <a:pPr marL="285750" indent="-285750"/>
            <a:r>
              <a:rPr lang="en-US" sz="1850" b="1">
                <a:ea typeface="+mn-lt"/>
                <a:cs typeface="+mn-lt"/>
              </a:rPr>
              <a:t>List 2</a:t>
            </a:r>
          </a:p>
          <a:p>
            <a:pPr indent="0">
              <a:buNone/>
            </a:pPr>
            <a:endParaRPr lang="en-US" sz="1850">
              <a:cs typeface="Calibri"/>
            </a:endParaRPr>
          </a:p>
          <a:p>
            <a:pPr indent="0">
              <a:buFont typeface="Arial" panose="020B0604020202020204" pitchFamily="34" charset="0"/>
              <a:buNone/>
            </a:pPr>
            <a:br>
              <a:rPr lang="en-US" sz="2100">
                <a:cs typeface="Calibri"/>
              </a:rPr>
            </a:br>
            <a:br>
              <a:rPr lang="en-US" sz="2100">
                <a:cs typeface="Calibri"/>
              </a:rPr>
            </a:br>
            <a:endParaRPr lang="en-US" sz="2133">
              <a:ea typeface="Calibri"/>
              <a:cs typeface="Calibri"/>
            </a:endParaRPr>
          </a:p>
          <a:p>
            <a:pPr indent="0">
              <a:buNone/>
            </a:pPr>
            <a:endParaRPr lang="en-US" sz="2133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FE3D21C-34F7-7D08-5462-40838FE993A0}"/>
              </a:ext>
            </a:extLst>
          </p:cNvPr>
          <p:cNvSpPr txBox="1">
            <a:spLocks/>
          </p:cNvSpPr>
          <p:nvPr/>
        </p:nvSpPr>
        <p:spPr>
          <a:xfrm>
            <a:off x="262402" y="1421570"/>
            <a:ext cx="5389033" cy="58225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>
                <a:solidFill>
                  <a:schemeClr val="tx2">
                    <a:lumMod val="49000"/>
                    <a:lumOff val="51000"/>
                  </a:schemeClr>
                </a:solidFill>
              </a:rPr>
              <a:t>Achievements -</a:t>
            </a:r>
            <a:endParaRPr lang="en-US">
              <a:solidFill>
                <a:schemeClr val="tx2">
                  <a:lumMod val="49000"/>
                  <a:lumOff val="51000"/>
                </a:schemeClr>
              </a:solidFill>
              <a:cs typeface="Calibri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6E95B18-6188-D49C-9BC7-FB39EC27188F}"/>
              </a:ext>
            </a:extLst>
          </p:cNvPr>
          <p:cNvSpPr txBox="1">
            <a:spLocks/>
          </p:cNvSpPr>
          <p:nvPr/>
        </p:nvSpPr>
        <p:spPr>
          <a:xfrm>
            <a:off x="7115073" y="1384269"/>
            <a:ext cx="5389033" cy="58225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>
                <a:solidFill>
                  <a:srgbClr val="F58221"/>
                </a:solidFill>
              </a:rPr>
              <a:t>Pending -</a:t>
            </a:r>
            <a:endParaRPr lang="en-US">
              <a:solidFill>
                <a:srgbClr val="F58221"/>
              </a:solidFill>
              <a:cs typeface="Calibri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D36A37F6-5C4C-9714-EC38-CB1D6D4B1771}"/>
              </a:ext>
            </a:extLst>
          </p:cNvPr>
          <p:cNvSpPr txBox="1">
            <a:spLocks/>
          </p:cNvSpPr>
          <p:nvPr/>
        </p:nvSpPr>
        <p:spPr>
          <a:xfrm>
            <a:off x="262402" y="4160507"/>
            <a:ext cx="5389033" cy="582254"/>
          </a:xfrm>
          <a:prstGeom prst="rect">
            <a:avLst/>
          </a:prstGeom>
        </p:spPr>
        <p:txBody>
          <a:bodyPr lIns="91440" tIns="45720" rIns="91440" bIns="45720" anchor="t">
            <a:normAutofit fontScale="92500"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>
                <a:solidFill>
                  <a:schemeClr val="tx2">
                    <a:lumMod val="49000"/>
                    <a:lumOff val="51000"/>
                  </a:schemeClr>
                </a:solidFill>
              </a:rPr>
              <a:t>Integration Challenges for Org/Product -</a:t>
            </a:r>
            <a:endParaRPr lang="en-US">
              <a:solidFill>
                <a:schemeClr val="tx2">
                  <a:lumMod val="49000"/>
                  <a:lumOff val="51000"/>
                </a:schemeClr>
              </a:solidFill>
              <a:cs typeface="Calibri"/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DAF4233A-7DFD-EC82-A05D-A8CD08C9469C}"/>
              </a:ext>
            </a:extLst>
          </p:cNvPr>
          <p:cNvSpPr txBox="1">
            <a:spLocks/>
          </p:cNvSpPr>
          <p:nvPr/>
        </p:nvSpPr>
        <p:spPr>
          <a:xfrm>
            <a:off x="265432" y="4911118"/>
            <a:ext cx="5068014" cy="1447584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1850" b="1">
                <a:ea typeface="+mn-lt"/>
                <a:cs typeface="+mn-lt"/>
              </a:rPr>
              <a:t>List 1</a:t>
            </a:r>
          </a:p>
          <a:p>
            <a:pPr marL="285750" indent="-285750"/>
            <a:r>
              <a:rPr lang="en-US" sz="1850" b="1">
                <a:ea typeface="+mn-lt"/>
                <a:cs typeface="+mn-lt"/>
              </a:rPr>
              <a:t>List 2</a:t>
            </a:r>
          </a:p>
          <a:p>
            <a:pPr indent="0">
              <a:buNone/>
            </a:pPr>
            <a:endParaRPr lang="en-US" sz="1850">
              <a:cs typeface="Calibri"/>
            </a:endParaRPr>
          </a:p>
          <a:p>
            <a:pPr indent="0">
              <a:buFont typeface="Arial" panose="020B0604020202020204" pitchFamily="34" charset="0"/>
              <a:buNone/>
            </a:pPr>
            <a:br>
              <a:rPr lang="en-US" sz="2100">
                <a:cs typeface="Calibri"/>
              </a:rPr>
            </a:br>
            <a:br>
              <a:rPr lang="en-US" sz="2100">
                <a:cs typeface="Calibri"/>
              </a:rPr>
            </a:br>
            <a:endParaRPr lang="en-US" sz="2133">
              <a:ea typeface="Calibri"/>
              <a:cs typeface="Calibri"/>
            </a:endParaRPr>
          </a:p>
          <a:p>
            <a:endParaRPr lang="en-US" sz="2133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 sz="2267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A6766F3C-5C1C-49F0-20AE-07BE69B8E943}"/>
              </a:ext>
            </a:extLst>
          </p:cNvPr>
          <p:cNvSpPr txBox="1">
            <a:spLocks/>
          </p:cNvSpPr>
          <p:nvPr/>
        </p:nvSpPr>
        <p:spPr>
          <a:xfrm>
            <a:off x="6963572" y="4911118"/>
            <a:ext cx="5068014" cy="1447584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defPPr>
              <a:defRPr lang="en-US"/>
            </a:defPPr>
            <a:lvl1pPr marL="0" indent="-228600" algn="l" defTabSz="121917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-228600" algn="l" defTabSz="12191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1850" b="1">
                <a:ea typeface="+mn-lt"/>
                <a:cs typeface="+mn-lt"/>
              </a:rPr>
              <a:t>  &lt; &gt; Staff Days</a:t>
            </a:r>
            <a:endParaRPr lang="en-US"/>
          </a:p>
          <a:p>
            <a:pPr indent="0">
              <a:buNone/>
            </a:pPr>
            <a:endParaRPr lang="en-US" sz="1850">
              <a:cs typeface="Calibri"/>
            </a:endParaRPr>
          </a:p>
          <a:p>
            <a:pPr indent="0">
              <a:buFont typeface="Arial" panose="020B0604020202020204" pitchFamily="34" charset="0"/>
              <a:buNone/>
            </a:pPr>
            <a:br>
              <a:rPr lang="en-US" sz="2100" dirty="0">
                <a:cs typeface="Calibri"/>
              </a:rPr>
            </a:br>
            <a:br>
              <a:rPr lang="en-US" sz="2100" dirty="0">
                <a:cs typeface="Calibri"/>
              </a:rPr>
            </a:br>
            <a:endParaRPr lang="en-US" sz="2133"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v"/>
            </a:pPr>
            <a:endParaRPr lang="en-US" sz="2133">
              <a:cs typeface="Calibri"/>
            </a:endParaRPr>
          </a:p>
          <a:p>
            <a:pPr>
              <a:buFont typeface="Wingdings" panose="020B0604020202020204" pitchFamily="34" charset="0"/>
              <a:buChar char="v"/>
            </a:pPr>
            <a:endParaRPr lang="en-US" sz="2267">
              <a:cs typeface="Calibri"/>
            </a:endParaRPr>
          </a:p>
          <a:p>
            <a:pPr>
              <a:buFont typeface="Wingdings" panose="020B0604020202020204" pitchFamily="34" charset="0"/>
              <a:buChar char="v"/>
            </a:pPr>
            <a:endParaRPr lang="en-US" sz="2267">
              <a:cs typeface="Calibri"/>
            </a:endParaRPr>
          </a:p>
          <a:p>
            <a:pPr>
              <a:buFont typeface="Wingdings" panose="020B0604020202020204" pitchFamily="34" charset="0"/>
              <a:buChar char="v"/>
            </a:pPr>
            <a:endParaRPr lang="en-US">
              <a:cs typeface="Calibri"/>
            </a:endParaRPr>
          </a:p>
          <a:p>
            <a:pPr>
              <a:buFont typeface="Wingdings" panose="020B0604020202020204" pitchFamily="34" charset="0"/>
              <a:buChar char="v"/>
            </a:pPr>
            <a:endParaRPr lang="en-US">
              <a:cs typeface="Calibri"/>
            </a:endParaRPr>
          </a:p>
          <a:p>
            <a:pPr>
              <a:buFont typeface="Wingdings" panose="020B0604020202020204" pitchFamily="34" charset="0"/>
              <a:buChar char="v"/>
            </a:pPr>
            <a:endParaRPr lang="en-US">
              <a:cs typeface="Calibri"/>
            </a:endParaRPr>
          </a:p>
          <a:p>
            <a:pPr>
              <a:buFont typeface="Wingdings" panose="020B0604020202020204" pitchFamily="34" charset="0"/>
              <a:buChar char="v"/>
            </a:pP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748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13</cp:revision>
  <dcterms:created xsi:type="dcterms:W3CDTF">2025-09-15T10:02:22Z</dcterms:created>
  <dcterms:modified xsi:type="dcterms:W3CDTF">2025-11-23T07:17:46Z</dcterms:modified>
</cp:coreProperties>
</file>